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rial"/>
              </a:rPr>
              <a:t>⚡ GridMind</a:t>
            </a:r>
            <a:r>
              <a:rPr sz="1000" b="0">
                <a:solidFill>
                  <a:srgbClr val="8A9AB5"/>
                </a:solidFill>
                <a:latin typeface="Arial"/>
              </a:rPr>
              <a:t>  ·  HackSphere 3.0  ·  Zoho Catalyst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9AB5"/>
                </a:solidFill>
                <a:latin typeface="Arial"/>
              </a:rPr>
              <a:t>01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rial"/>
              </a:rPr>
              <a:t>HACKSPHERE 3.0  ·  ZOHO CATALYST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6EDF7"/>
                </a:solidFill>
                <a:latin typeface="Arial"/>
              </a:rPr>
              <a:t>GridMind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E6EDF7"/>
                </a:solidFill>
                <a:latin typeface="Arial"/>
              </a:rPr>
              <a:t>Smart Energy Microgrid &amp; Demand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A9AB5"/>
                </a:solidFill>
                <a:latin typeface="Arial"/>
              </a:rPr>
              <a:t>Forecasts the next 24 hours of demand with Catalyst QuickML, switches between the main grid and battery storage, and warns before an overload.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17720"/>
            <a:ext cx="1536192" cy="1234440"/>
          </a:xfrm>
          <a:prstGeom prst="roundRect">
            <a:avLst>
              <a:gd name="adj" fmla="val 8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9AB5"/>
                </a:solidFill>
                <a:latin typeface="Arial"/>
              </a:rPr>
              <a:t>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29200"/>
            <a:ext cx="10789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rial"/>
              </a:rPr>
              <a:t>8.7 kW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21992" y="4617720"/>
            <a:ext cx="1536192" cy="1234440"/>
          </a:xfrm>
          <a:prstGeom prst="roundRect">
            <a:avLst>
              <a:gd name="adj" fmla="val 8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4800600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9AB5"/>
                </a:solidFill>
                <a:latin typeface="Arial"/>
              </a:rPr>
              <a:t>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2" y="5029200"/>
            <a:ext cx="10789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rial"/>
              </a:rPr>
              <a:t>0.97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95344" y="4617720"/>
            <a:ext cx="1536192" cy="1234440"/>
          </a:xfrm>
          <a:prstGeom prst="roundRect">
            <a:avLst>
              <a:gd name="adj" fmla="val 8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23944" y="4800600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9AB5"/>
                </a:solidFill>
                <a:latin typeface="Arial"/>
              </a:rPr>
              <a:t>APPSAIL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23944" y="5029200"/>
            <a:ext cx="10789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  <a:latin typeface="Arial"/>
              </a:rPr>
              <a:t>LIVE</a:t>
            </a:r>
          </a:p>
        </p:txBody>
      </p:sp>
      <p:pic>
        <p:nvPicPr>
          <p:cNvPr id="18" name="Picture 17" descr="crop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051560"/>
            <a:ext cx="6035040" cy="4450842"/>
          </a:xfrm>
          <a:prstGeom prst="rect">
            <a:avLst/>
          </a:prstGeom>
          <a:ln w="15875">
            <a:solidFill>
              <a:srgbClr val="1F2C45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rial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7"/>
                </a:solidFill>
                <a:latin typeface="Arial"/>
              </a:rPr>
              <a:t>Every hour, a microgrid must pick its power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rial"/>
              </a:rPr>
              <a:t>⚡ GridMind</a:t>
            </a:r>
            <a:r>
              <a:rPr sz="1000" b="0">
                <a:solidFill>
                  <a:srgbClr val="8A9AB5"/>
                </a:solidFill>
                <a:latin typeface="Arial"/>
              </a:rPr>
              <a:t>  ·  HackSphere 3.0  ·  Zoho Catalyst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9AB5"/>
                </a:solidFill>
                <a:latin typeface="Arial"/>
              </a:rPr>
              <a:t>02 /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2002536"/>
            <a:ext cx="329184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67128"/>
            <a:ext cx="3118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Arial"/>
              </a:rPr>
              <a:t>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01467"/>
            <a:ext cx="3118104" cy="1257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Arial"/>
              </a:rPr>
              <a:t>Predict hourly demand (kW) for the next 24 h from temperature, humidity and solar irradiance telemetry.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8308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2002536"/>
            <a:ext cx="329184" cy="5486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2167128"/>
            <a:ext cx="3118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Arial"/>
              </a:rPr>
              <a:t>Switch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601467"/>
            <a:ext cx="3118104" cy="1257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Arial"/>
              </a:rPr>
              <a:t>Use renewable battery storage when demand &gt; 160 kW or during the 18:00–22:00 peak; otherwise the main grid.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47888" y="2002536"/>
            <a:ext cx="329184" cy="5486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167128"/>
            <a:ext cx="3118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Arial"/>
              </a:rPr>
              <a:t>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601467"/>
            <a:ext cx="3118104" cy="1257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Arial"/>
              </a:rPr>
              <a:t>Raise a critical overload alert for any hour forecast at or above 200 kW.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Arial"/>
              </a:rPr>
              <a:t>WHY IT'S HARD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63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46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7"/>
                </a:solidFill>
                <a:latin typeface="Arial"/>
              </a:rPr>
              <a:t>92 → 215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40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Arial"/>
              </a:rPr>
              <a:t>kW, night vs evening peak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55848" y="4663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4448" y="4846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BBF24"/>
                </a:solidFill>
                <a:latin typeface="Arial"/>
              </a:rPr>
              <a:t>+8–11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4448" y="5440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Arial"/>
              </a:rPr>
              <a:t>kW per °C above 24 °C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4663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4846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7"/>
                </a:solidFill>
                <a:latin typeface="Arial"/>
              </a:rPr>
              <a:t>−0.94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5440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Arial"/>
              </a:rPr>
              <a:t>humidity ↔ temperature 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0264" y="4663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98864" y="4846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7171"/>
                </a:solidFill>
                <a:latin typeface="Arial"/>
              </a:rPr>
              <a:t>45.9 kW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8864" y="5440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Arial"/>
              </a:rPr>
              <a:t>starter baseline RMSE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rial"/>
              </a:rP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7"/>
                </a:solidFill>
                <a:latin typeface="Arial"/>
              </a:rPr>
              <a:t>QuickML predicts, AppSail runs the 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rial"/>
              </a:rPr>
              <a:t>⚡ GridMind</a:t>
            </a:r>
            <a:r>
              <a:rPr sz="1000" b="0">
                <a:solidFill>
                  <a:srgbClr val="8A9AB5"/>
                </a:solidFill>
                <a:latin typeface="Arial"/>
              </a:rPr>
              <a:t>  ·  HackSphere 3.0  ·  Zoho Catalyst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9AB5"/>
                </a:solidFill>
                <a:latin typeface="Arial"/>
              </a:rPr>
              <a:t>03 /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600200"/>
            <a:ext cx="9326880" cy="3017520"/>
          </a:xfrm>
          <a:prstGeom prst="roundRect">
            <a:avLst>
              <a:gd name="adj" fmla="val 4000"/>
            </a:avLst>
          </a:prstGeom>
          <a:solidFill>
            <a:srgbClr val="0A1424"/>
          </a:solidFill>
          <a:ln w="12700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719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9AB5"/>
                </a:solidFill>
                <a:latin typeface="Arial"/>
              </a:rPr>
              <a:t>ZOHO CATALYST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508760" cy="1325880"/>
          </a:xfrm>
          <a:prstGeom prst="roundRect">
            <a:avLst>
              <a:gd name="adj" fmla="val 10000"/>
            </a:avLst>
          </a:prstGeom>
          <a:solidFill>
            <a:srgbClr val="0F182B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6EDF7"/>
                </a:solidFill>
                <a:latin typeface="Arial"/>
              </a:rP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70632"/>
            <a:ext cx="1234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A9AB5"/>
                </a:solidFill>
                <a:latin typeface="Arial"/>
              </a:rPr>
              <a:t>Browser: CSV, form, scenario
predict.py evaluator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2240280"/>
            <a:ext cx="2103120" cy="1325880"/>
          </a:xfrm>
          <a:prstGeom prst="roundRect">
            <a:avLst>
              <a:gd name="adj" fmla="val 10000"/>
            </a:avLst>
          </a:prstGeom>
          <a:solidFill>
            <a:srgbClr val="0F182B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3957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6EDF7"/>
                </a:solidFill>
                <a:latin typeface="Arial"/>
              </a:rPr>
              <a:t>AppSail · Flask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770632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A9AB5"/>
                </a:solidFill>
                <a:latin typeface="Arial"/>
              </a:rPr>
              <a:t>Clean &amp; validate
feature builder (11 features)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2240280"/>
            <a:ext cx="2103120" cy="1325880"/>
          </a:xfrm>
          <a:prstGeom prst="roundRect">
            <a:avLst>
              <a:gd name="adj" fmla="val 10000"/>
            </a:avLst>
          </a:prstGeom>
          <a:solidFill>
            <a:srgbClr val="0F182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3957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6EDF7"/>
                </a:solidFill>
                <a:latin typeface="Arial"/>
              </a:rPr>
              <a:t>QuickML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770632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A9AB5"/>
                </a:solidFill>
                <a:latin typeface="Arial"/>
              </a:rPr>
              <a:t>Linear Regression endpoint
+ SHAP explainer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240280"/>
            <a:ext cx="1828800" cy="1325880"/>
          </a:xfrm>
          <a:prstGeom prst="roundRect">
            <a:avLst>
              <a:gd name="adj" fmla="val 10000"/>
            </a:avLst>
          </a:prstGeom>
          <a:solidFill>
            <a:srgbClr val="0F182B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39572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6EDF7"/>
                </a:solidFill>
                <a:latin typeface="Arial"/>
              </a:rPr>
              <a:t>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770632"/>
            <a:ext cx="1554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A9AB5"/>
                </a:solidFill>
                <a:latin typeface="Arial"/>
              </a:rPr>
              <a:t>Grid ↔ storage rules
overload alerts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2240280"/>
            <a:ext cx="1737360" cy="1325880"/>
          </a:xfrm>
          <a:prstGeom prst="roundRect">
            <a:avLst>
              <a:gd name="adj" fmla="val 10000"/>
            </a:avLst>
          </a:prstGeom>
          <a:solidFill>
            <a:srgbClr val="0F182B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23957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6EDF7"/>
                </a:solidFill>
                <a:latin typeface="Arial"/>
              </a:rPr>
              <a:t>Battery sim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770632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A9AB5"/>
                </a:solidFill>
                <a:latin typeface="Arial"/>
              </a:rPr>
              <a:t>SoC, sizing advisor
₹ cost, CO₂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57400" y="2903220.0"/>
            <a:ext cx="548640" cy="0.0"/>
          </a:xfrm>
          <a:prstGeom prst="line">
            <a:avLst/>
          </a:prstGeom>
          <a:ln w="254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09160" y="2903220.0"/>
            <a:ext cx="365760" cy="0.0"/>
          </a:xfrm>
          <a:prstGeom prst="line">
            <a:avLst/>
          </a:prstGeom>
          <a:ln w="254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78040" y="2903220.0"/>
            <a:ext cx="365760" cy="0.0"/>
          </a:xfrm>
          <a:prstGeom prst="line">
            <a:avLst/>
          </a:prstGeom>
          <a:ln w="254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72600" y="2903220.0"/>
            <a:ext cx="365760" cy="0.0"/>
          </a:xfrm>
          <a:prstGeom prst="line">
            <a:avLst/>
          </a:prstGeom>
          <a:ln w="254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63440" y="191109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BBF24"/>
                </a:solidFill>
                <a:latin typeface="Arial"/>
              </a:rPr>
              <a:t>OAuth + endpoint key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06040" y="3840480"/>
            <a:ext cx="8869680" cy="548640"/>
          </a:xfrm>
          <a:prstGeom prst="roundRect">
            <a:avLst>
              <a:gd name="adj" fmla="val 30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40" y="3840480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6EDF7"/>
                </a:solidFill>
                <a:latin typeface="Arial"/>
              </a:rPr>
              <a:t>Dashboard  </a:t>
            </a:r>
            <a:r>
              <a:rPr sz="1300" b="0">
                <a:solidFill>
                  <a:srgbClr val="8A9AB5"/>
                </a:solidFill>
                <a:latin typeface="Arial"/>
              </a:rPr>
              <a:t>+  </a:t>
            </a:r>
            <a:r>
              <a:rPr sz="1300" b="1">
                <a:solidFill>
                  <a:srgbClr val="E6EDF7"/>
                </a:solidFill>
                <a:latin typeface="Arial"/>
              </a:rPr>
              <a:t>/api/predict  </a:t>
            </a:r>
            <a:r>
              <a:rPr sz="1300" b="0">
                <a:solidFill>
                  <a:srgbClr val="8A9AB5"/>
                </a:solidFill>
                <a:latin typeface="Arial"/>
              </a:rPr>
              <a:t>served from the same AppSail app — no separate Slate host, no cross-origin auth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80060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" y="5020056"/>
            <a:ext cx="329184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184648"/>
            <a:ext cx="3163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EDF7"/>
                </a:solidFill>
                <a:latin typeface="Arial"/>
              </a:rPr>
              <a:t>Secrets stay server-side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546598"/>
            <a:ext cx="3163824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AB5"/>
                </a:solidFill>
                <a:latin typeface="Arial"/>
              </a:rPr>
              <a:t>OAuth refresh token + endpoint key live in AppSail env vars, never in the repo. Evaluators need no credentials.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480060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98848" y="5020056"/>
            <a:ext cx="32918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8848" y="5184648"/>
            <a:ext cx="3163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EDF7"/>
                </a:solidFill>
                <a:latin typeface="Arial"/>
              </a:rPr>
              <a:t>Train/serve parity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8848" y="5546598"/>
            <a:ext cx="3163824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AB5"/>
                </a:solidFill>
                <a:latin typeface="Arial"/>
              </a:rPr>
              <a:t>One feature module builds the QuickML training CSV and every live request. Live endpoint within 0.83 kW of reference.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80060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47888" y="5020056"/>
            <a:ext cx="329184" cy="5486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5184648"/>
            <a:ext cx="3163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EDF7"/>
                </a:solidFill>
                <a:latin typeface="Arial"/>
              </a:rPr>
              <a:t>Honest degradation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5546598"/>
            <a:ext cx="3163824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AB5"/>
                </a:solidFill>
                <a:latin typeface="Arial"/>
              </a:rPr>
              <a:t>Dashboard falls back to a local mirror model and says so; /api/predict returns 502 instead of faking QuickML.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rial"/>
              </a:rP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7"/>
                </a:solidFill>
                <a:latin typeface="Arial"/>
              </a:rPr>
              <a:t>Physics-informed features beat every tree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rial"/>
              </a:rPr>
              <a:t>⚡ GridMind</a:t>
            </a:r>
            <a:r>
              <a:rPr sz="1000" b="0">
                <a:solidFill>
                  <a:srgbClr val="8A9AB5"/>
                </a:solidFill>
                <a:latin typeface="Arial"/>
              </a:rPr>
              <a:t>  ·  HackSphere 3.0  ·  Zoho Catalyst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9AB5"/>
                </a:solidFill>
                <a:latin typeface="Arial"/>
              </a:rPr>
              <a:t>04 /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108960" cy="1325880"/>
          </a:xfrm>
          <a:prstGeom prst="roundRect">
            <a:avLst>
              <a:gd name="adj" fmla="val 8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9AB5"/>
                </a:solidFill>
                <a:latin typeface="Arial"/>
              </a:rPr>
              <a:t>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DD4BF"/>
                </a:solidFill>
                <a:latin typeface="Arial"/>
              </a:rPr>
              <a:t>8.7 kW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9AB5"/>
                </a:solidFill>
                <a:latin typeface="Arial"/>
              </a:rPr>
              <a:t>QuickML test split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44952"/>
            <a:ext cx="3108960" cy="1325880"/>
          </a:xfrm>
          <a:prstGeom prst="roundRect">
            <a:avLst>
              <a:gd name="adj" fmla="val 8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27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9AB5"/>
                </a:solidFill>
                <a:latin typeface="Arial"/>
              </a:rPr>
              <a:t>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56432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DD4BF"/>
                </a:solidFill>
                <a:latin typeface="Arial"/>
              </a:rPr>
              <a:t>0.97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050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9AB5"/>
                </a:solidFill>
                <a:latin typeface="Arial"/>
              </a:rPr>
              <a:t>QuickML test split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9704"/>
            <a:ext cx="3108960" cy="1325880"/>
          </a:xfrm>
          <a:prstGeom prst="roundRect">
            <a:avLst>
              <a:gd name="adj" fmla="val 8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7258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9AB5"/>
                </a:solidFill>
                <a:latin typeface="Arial"/>
              </a:rPr>
              <a:t>MAE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01184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DD4BF"/>
                </a:solidFill>
                <a:latin typeface="Arial"/>
              </a:rPr>
              <a:t>6.9 kW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982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9AB5"/>
                </a:solidFill>
                <a:latin typeface="Arial"/>
              </a:rPr>
              <a:t>QuickML test split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1600200"/>
            <a:ext cx="7680960" cy="4206240"/>
          </a:xfrm>
          <a:prstGeom prst="roundRect">
            <a:avLst>
              <a:gd name="adj" fmla="val 3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59" y="1801368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9AB5"/>
                </a:solidFill>
                <a:latin typeface="Arial"/>
              </a:rPr>
              <a:t>ROLLING-ORIGIN CV  ·  RMSE kW ON UNSEEN FUTURE HOURS  ·  LOWER IS BETTER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39" y="2286000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E6EDF7"/>
                </a:solidFill>
                <a:latin typeface="Arial"/>
              </a:rPr>
              <a:t>GridMind linear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799" y="2286000"/>
            <a:ext cx="819302" cy="32918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29" y="228600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rial"/>
              </a:rPr>
              <a:t>8.96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39" y="285292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8A9AB5"/>
                </a:solidFill>
                <a:latin typeface="Arial"/>
              </a:rPr>
              <a:t>Tuned boosting (raw)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799" y="2852928"/>
            <a:ext cx="907999" cy="329184"/>
          </a:xfrm>
          <a:prstGeom prst="rect">
            <a:avLst/>
          </a:prstGeom>
          <a:solidFill>
            <a:srgbClr val="3347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18526" y="285292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6EDF7"/>
                </a:solidFill>
                <a:latin typeface="Arial"/>
              </a:rPr>
              <a:t>9.93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39" y="3419856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8A9AB5"/>
                </a:solidFill>
                <a:latin typeface="Arial"/>
              </a:rPr>
              <a:t>Gradient boosting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799" y="3419856"/>
            <a:ext cx="935431" cy="329184"/>
          </a:xfrm>
          <a:prstGeom prst="rect">
            <a:avLst/>
          </a:prstGeom>
          <a:solidFill>
            <a:srgbClr val="3347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5958" y="3419856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6EDF7"/>
                </a:solidFill>
                <a:latin typeface="Arial"/>
              </a:rPr>
              <a:t>10.23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39" y="3986784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8A9AB5"/>
                </a:solidFill>
                <a:latin typeface="Arial"/>
              </a:rPr>
              <a:t>Random forest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799" y="3986784"/>
            <a:ext cx="1046988" cy="329184"/>
          </a:xfrm>
          <a:prstGeom prst="rect">
            <a:avLst/>
          </a:prstGeom>
          <a:solidFill>
            <a:srgbClr val="3347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7515" y="3986784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6EDF7"/>
                </a:solidFill>
                <a:latin typeface="Arial"/>
              </a:rPr>
              <a:t>11.45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39" y="4553712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8A9AB5"/>
                </a:solidFill>
                <a:latin typeface="Arial"/>
              </a:rPr>
              <a:t>Default boosting (raw)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799" y="4553712"/>
            <a:ext cx="1239012" cy="329184"/>
          </a:xfrm>
          <a:prstGeom prst="rect">
            <a:avLst/>
          </a:prstGeom>
          <a:solidFill>
            <a:srgbClr val="3347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49539" y="4553712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6EDF7"/>
                </a:solidFill>
                <a:latin typeface="Arial"/>
              </a:rPr>
              <a:t>13.55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39" y="5120640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8A9AB5"/>
                </a:solidFill>
                <a:latin typeface="Arial"/>
              </a:rPr>
              <a:t>Starter baseline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799" y="5120640"/>
            <a:ext cx="4200753" cy="32918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11280" y="512064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6EDF7"/>
                </a:solidFill>
                <a:latin typeface="Arial"/>
              </a:rPr>
              <a:t>45.94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9788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Arial"/>
              </a:rPr>
              <a:t>Why linear wins: </a:t>
            </a:r>
            <a:r>
              <a:rPr sz="1300" b="0">
                <a:solidFill>
                  <a:srgbClr val="8A9AB5"/>
                </a:solidFill>
                <a:latin typeface="Arial"/>
              </a:rPr>
              <a:t>hourly base-load profile + cooling degrees above 24 °C split by time of day. Linear terms extrapolate into hotter test days; trees flatten out. 80% lower error than the starter baseline.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rial"/>
              </a:rPr>
              <a:t>LIVE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7"/>
                </a:solidFill>
                <a:latin typeface="Arial"/>
              </a:rPr>
              <a:t>From a forecast to an operating plan, in one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rial"/>
              </a:rPr>
              <a:t>⚡ GridMind</a:t>
            </a:r>
            <a:r>
              <a:rPr sz="1000" b="0">
                <a:solidFill>
                  <a:srgbClr val="8A9AB5"/>
                </a:solidFill>
                <a:latin typeface="Arial"/>
              </a:rPr>
              <a:t>  ·  HackSphere 3.0  ·  Zoho Catalyst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9AB5"/>
                </a:solidFill>
                <a:latin typeface="Arial"/>
              </a:rPr>
              <a:t>05 / 06</a:t>
            </a:r>
          </a:p>
        </p:txBody>
      </p:sp>
      <p:pic>
        <p:nvPicPr>
          <p:cNvPr id="7" name="Picture 6" descr="crop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960080" cy="4617720"/>
          </a:xfrm>
          <a:prstGeom prst="rect">
            <a:avLst/>
          </a:prstGeom>
          <a:ln w="15875">
            <a:solidFill>
              <a:srgbClr val="1F2C45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6720840" y="1627632"/>
            <a:ext cx="73152" cy="685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76872" y="157276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EDF7"/>
                </a:solidFill>
                <a:latin typeface="Arial"/>
              </a:rPr>
              <a:t>Battery SoC &amp; sizing advisor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6872" y="190195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AB5"/>
                </a:solidFill>
                <a:latin typeface="Arial"/>
              </a:rPr>
              <a:t>Hour-by-hour state of charge with solar charging; finds the smallest battery that covers every storage hour.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2551176"/>
            <a:ext cx="73152" cy="685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249631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EDF7"/>
                </a:solidFill>
                <a:latin typeface="Arial"/>
              </a:rPr>
              <a:t>What-if temperature slider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2" y="282549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AB5"/>
                </a:solidFill>
                <a:latin typeface="Arial"/>
              </a:rPr>
              <a:t>Shift temperature −8 to +6 °C and watch load, alerts and the battery plan re-plan live.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3474720"/>
            <a:ext cx="73152" cy="685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3419856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EDF7"/>
                </a:solidFill>
                <a:latin typeface="Arial"/>
              </a:rPr>
              <a:t>Cost savings in 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74904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AB5"/>
                </a:solidFill>
                <a:latin typeface="Arial"/>
              </a:rPr>
              <a:t>Time-of-day tariffs vs running on the grid all day — ₹24,960 saved on the heatwave scenario.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4398264"/>
            <a:ext cx="73152" cy="685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43434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EDF7"/>
                </a:solidFill>
                <a:latin typeface="Arial"/>
              </a:rPr>
              <a:t>CO₂ avoided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467258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AB5"/>
                </a:solidFill>
                <a:latin typeface="Arial"/>
              </a:rPr>
              <a:t>2.02 t avoided on the heatwave day from 1,216 kWh of solar.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5321808"/>
            <a:ext cx="73152" cy="6858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5266944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EDF7"/>
                </a:solidFill>
                <a:latin typeface="Arial"/>
              </a:rPr>
              <a:t>Explainable + uncertain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5596128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9AB5"/>
                </a:solidFill>
                <a:latin typeface="Arial"/>
              </a:rPr>
              <a:t>QuickML SHAP attributions per hour, 90% intervals and P(overload).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7"/>
                </a:solidFill>
                <a:latin typeface="Arial"/>
              </a:rPr>
              <a:t>Deployed, verified, and ready to 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rial"/>
              </a:rPr>
              <a:t>⚡ GridMind</a:t>
            </a:r>
            <a:r>
              <a:rPr sz="1000" b="0">
                <a:solidFill>
                  <a:srgbClr val="8A9AB5"/>
                </a:solidFill>
                <a:latin typeface="Arial"/>
              </a:rPr>
              <a:t>  ·  HackSphere 3.0  ·  Zoho Catalyst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9AB5"/>
                </a:solidFill>
                <a:latin typeface="Arial"/>
              </a:rPr>
              <a:t>06 /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9AB5"/>
                </a:solidFill>
                <a:latin typeface="Arial"/>
              </a:rPr>
              <a:t>TEST_EVAL.PY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DD4BF"/>
                </a:solidFill>
                <a:latin typeface="Arial"/>
              </a:rPr>
              <a:t>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9AB5"/>
                </a:solidFill>
                <a:latin typeface="Arial"/>
              </a:rPr>
              <a:t>1,000 predictions via QuickML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64592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828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9AB5"/>
                </a:solidFill>
                <a:latin typeface="Arial"/>
              </a:rPr>
              <a:t>RMSE VS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0574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DD4BF"/>
                </a:solidFill>
                <a:latin typeface="Arial"/>
              </a:rPr>
              <a:t>−80%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743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9AB5"/>
                </a:solidFill>
                <a:latin typeface="Arial"/>
              </a:rPr>
              <a:t>45.9 → 8.96 kW on future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4592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828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9AB5"/>
                </a:solidFill>
                <a:latin typeface="Arial"/>
              </a:rPr>
              <a:t>LIVE PARITY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0574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BBF24"/>
                </a:solidFill>
                <a:latin typeface="Arial"/>
              </a:rPr>
              <a:t>0.83 kW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743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9AB5"/>
                </a:solidFill>
                <a:latin typeface="Arial"/>
              </a:rPr>
              <a:t>QuickML vs reference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64592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0F182B"/>
          </a:solidFill>
          <a:ln w="12700">
            <a:solidFill>
              <a:srgbClr val="1F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4" y="1828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9AB5"/>
                </a:solidFill>
                <a:latin typeface="Arial"/>
              </a:rPr>
              <a:t>OVERLOADS FLAGGED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20574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7171"/>
                </a:solidFill>
                <a:latin typeface="Arial"/>
              </a:rPr>
              <a:t>15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2743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9AB5"/>
                </a:solidFill>
                <a:latin typeface="Arial"/>
              </a:rPr>
              <a:t>heatwave scenario, 275 kW peak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383280"/>
            <a:ext cx="11091672" cy="2697480"/>
          </a:xfrm>
          <a:prstGeom prst="roundRect">
            <a:avLst>
              <a:gd name="adj" fmla="val 5000"/>
            </a:avLst>
          </a:prstGeom>
          <a:solidFill>
            <a:srgbClr val="0A1C22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6393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rial"/>
              </a:rPr>
              <a:t>● TRY IT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05072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6EDF7"/>
                </a:solidFill>
                <a:latin typeface="Arial"/>
              </a:rPr>
              <a:t>gridmind-50047185567.development.catalystappsail.in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6451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Arial"/>
              </a:rPr>
              <a:t>POST </a:t>
            </a:r>
            <a:r>
              <a:rPr sz="1500" b="0">
                <a:solidFill>
                  <a:srgbClr val="E6EDF7"/>
                </a:solidFill>
                <a:latin typeface="Arial"/>
              </a:rPr>
              <a:t>/api/predict</a:t>
            </a:r>
            <a:r>
              <a:rPr sz="1500" b="0">
                <a:solidFill>
                  <a:srgbClr val="8A9AB5"/>
                </a:solidFill>
                <a:latin typeface="Arial"/>
              </a:rPr>
              <a:t>   ·   prediction API used by predict.py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3892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8A9AB5"/>
                </a:solidFill>
                <a:latin typeface="Arial"/>
              </a:rPr>
              <a:t>GitHub  </a:t>
            </a:r>
            <a:r>
              <a:rPr sz="1700" b="0">
                <a:solidFill>
                  <a:srgbClr val="E6EDF7"/>
                </a:solidFill>
                <a:latin typeface="Arial"/>
              </a:rPr>
              <a:t>github.com/yashviharia/GridMind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Arial"/>
              </a:rPr>
              <a:t>Pick “Heatwave day”, drag the what-if slider, click any hour for its explanation.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